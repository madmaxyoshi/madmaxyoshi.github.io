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FollowFlo の 5 つの差別化ポイント：</a:t>
            </a:r>
          </a:p>
          <a:p/>
          <a:p>
            <a:r>
              <a:t>1️⃣ マルチシグナル完了検出</a:t>
            </a:r>
          </a:p>
          <a:p>
            <a:r>
              <a:t>   Slack / Teams / Zoom / Notion / Asana</a:t>
            </a:r>
          </a:p>
          <a:p>
            <a:r>
              <a:t>   複数プラットフォームの完了を統一追跡</a:t>
            </a:r>
          </a:p>
          <a:p/>
          <a:p>
            <a:r>
              <a:t>2️⃣ 完了証拠の自動記録</a:t>
            </a:r>
          </a:p>
          <a:p>
            <a:r>
              <a:t>   タイムスタンプ + ユーザーID + スクリーンショット</a:t>
            </a:r>
          </a:p>
          <a:p>
            <a:r>
              <a:t>   改ざん防止の暗号検証</a:t>
            </a:r>
          </a:p>
          <a:p/>
          <a:p>
            <a:r>
              <a:t>3️⃣ AI検証エンジン（4段階）</a:t>
            </a:r>
          </a:p>
          <a:p>
            <a:r>
              <a:t>   自動検出 → 文脈確認 → 検証 → 人間確認</a:t>
            </a:r>
          </a:p>
          <a:p>
            <a:r>
              <a:t>   誤検知を完全排除</a:t>
            </a:r>
          </a:p>
          <a:p/>
          <a:p>
            <a:r>
              <a:t>4️⃣ 段階的エスカレーション</a:t>
            </a:r>
          </a:p>
          <a:p>
            <a:r>
              <a:t>   T-1日リマインド → T+24h通知 → T+3日報告</a:t>
            </a:r>
          </a:p>
          <a:p>
            <a:r>
              <a:t>   期限超過の自動段階対応</a:t>
            </a:r>
          </a:p>
          <a:p/>
          <a:p>
            <a:r>
              <a:t>5️⃣ 3階層レポート</a:t>
            </a:r>
          </a:p>
          <a:p>
            <a:r>
              <a:t>   個人 / チーム / 経営陣</a:t>
            </a:r>
          </a:p>
          <a:p>
            <a:r>
              <a:t>   ステークホルダー別の最適ダッシュボード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88952" cy="2103120"/>
          </a:xfrm>
          <a:prstGeom prst="rect">
            <a:avLst/>
          </a:prstGeom>
          <a:solidFill>
            <a:srgbClr val="004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657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>
                <a:solidFill>
                  <a:srgbClr val="00C48C"/>
                </a:solidFill>
              </a:rPr>
              <a:t>FollowFlo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会議アクションアイテム 完了保証エンジン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377440"/>
            <a:ext cx="4572000" cy="45720"/>
          </a:xfrm>
          <a:prstGeom prst="rect">
            <a:avLst/>
          </a:prstGeom>
          <a:solidFill>
            <a:srgbClr val="00C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5603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C48C"/>
                </a:solidFill>
              </a:rPr>
              <a:t>事業詳細調査レポート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00C48C"/>
                </a:solidFill>
              </a:rPr>
              <a:t>80%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669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2E8F0"/>
                </a:solidFill>
              </a:rPr>
              <a:t>会議アクションが放置される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493776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00C48C"/>
                </a:solidFill>
              </a:rPr>
              <a:t>$375億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5669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2E8F0"/>
                </a:solidFill>
              </a:rPr>
              <a:t>米国の会議コスト損失/年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493776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00C48C"/>
                </a:solidFill>
              </a:rPr>
              <a:t>25%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5669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2E8F0"/>
                </a:solidFill>
              </a:rPr>
              <a:t>AI議事録市場の年間成長率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NURANEX株式会社　全部署合同調査　2026年5月30日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解決する問題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116128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109728" cy="1463040"/>
          </a:xfrm>
          <a:prstGeom prst="rect">
            <a:avLst/>
          </a:prstGeom>
          <a:solidFill>
            <a:srgbClr val="00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293B"/>
                </a:solidFill>
              </a:rPr>
              <a:t>会議で決まったアクションアイテムの「約80%」が追跡されず放置される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AI議事録ツール（Otter.ai・Fireflies等）は普及したが、「誰がいつまでに実行したか」を自律的に追跡・リマインド・エスカレーションするサービスが存在しない。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697480"/>
            <a:ext cx="37947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697480"/>
            <a:ext cx="3794760" cy="438912"/>
          </a:xfrm>
          <a:prstGeom prst="rect">
            <a:avLst/>
          </a:prstGeom>
          <a:solidFill>
            <a:srgbClr val="00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2734056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現状のフロー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3246120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1. 会議開催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721608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2. AI議事録で要約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4197096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3. アクションアイテム抽出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4672583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48C"/>
                </a:solidFill>
              </a:rPr>
              <a:t>4. ← ここで止まる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5148072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5. 誰も実行しない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5623560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6. 次の会議で同じ話題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59" y="2697480"/>
            <a:ext cx="37947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59" y="2697480"/>
            <a:ext cx="3794760" cy="438912"/>
          </a:xfrm>
          <a:prstGeom prst="rect">
            <a:avLst/>
          </a:prstGeom>
          <a:solidFill>
            <a:srgbClr val="00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61688" y="2734056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米国の会議コスト損失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246120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48C"/>
                </a:solidFill>
              </a:rPr>
              <a:t>年間 $375〜$399億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721608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（非生産的な会議コスト）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197096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672583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大企業1社あたり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5148072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48C"/>
                </a:solidFill>
              </a:rPr>
              <a:t>年間 $1億超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5623560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6099048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従業員1人あたり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6574536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48C"/>
                </a:solidFill>
              </a:rPr>
              <a:t>年間 $25,000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2697480"/>
            <a:ext cx="37947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0" y="2697480"/>
            <a:ext cx="3794760" cy="438912"/>
          </a:xfrm>
          <a:prstGeom prst="rect">
            <a:avLst/>
          </a:prstGeom>
          <a:solidFill>
            <a:srgbClr val="00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9327" y="2734056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放置率の根拠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3246120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C48C"/>
                </a:solidFill>
              </a:rPr>
              <a:t>73% 実行されない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3721608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（Streamli9リサーチ）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4197096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4672583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C48C"/>
                </a:solidFill>
              </a:rPr>
              <a:t>80% 忘れられる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5148072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（MeetingToll調査）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5623560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6099048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→ 構造的追跡で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6574536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C48C"/>
                </a:solidFill>
              </a:rPr>
              <a:t>36%多く期日内完了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競合比較　── 真の空白地帯を証明する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05840"/>
            <a:ext cx="1783080" cy="411480"/>
          </a:xfrm>
          <a:prstGeom prst="rect">
            <a:avLst/>
          </a:prstGeom>
          <a:solidFill>
            <a:srgbClr val="00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" y="1051560"/>
            <a:ext cx="1691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製品名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1005840"/>
            <a:ext cx="1645920" cy="411480"/>
          </a:xfrm>
          <a:prstGeom prst="rect">
            <a:avLst/>
          </a:prstGeom>
          <a:solidFill>
            <a:srgbClr val="00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76272" y="1051560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AI議事録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1005840"/>
            <a:ext cx="1645920" cy="411480"/>
          </a:xfrm>
          <a:prstGeom prst="rect">
            <a:avLst/>
          </a:prstGeom>
          <a:solidFill>
            <a:srgbClr val="00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13632" y="1051560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アクション抽出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005840"/>
            <a:ext cx="1828799" cy="411480"/>
          </a:xfrm>
          <a:prstGeom prst="rect">
            <a:avLst/>
          </a:prstGeom>
          <a:solidFill>
            <a:srgbClr val="00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50992" y="1051560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自律追跡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1005840"/>
            <a:ext cx="2011680" cy="411480"/>
          </a:xfrm>
          <a:prstGeom prst="rect">
            <a:avLst/>
          </a:prstGeom>
          <a:solidFill>
            <a:srgbClr val="00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71231" y="105156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エスカレーション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0" y="1005840"/>
            <a:ext cx="2240280" cy="411480"/>
          </a:xfrm>
          <a:prstGeom prst="rect">
            <a:avLst/>
          </a:prstGeom>
          <a:solidFill>
            <a:srgbClr val="00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74352" y="1051560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価格/user/月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1490472"/>
            <a:ext cx="178308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1572768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Otter.ai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03120" y="1490472"/>
            <a:ext cx="16459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76272" y="157276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0" y="1490472"/>
            <a:ext cx="16459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13632" y="157276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△ 限定的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77840" y="1490472"/>
            <a:ext cx="1828799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50992" y="157276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3935"/>
                </a:solidFill>
              </a:rPr>
              <a:t>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79" y="1490472"/>
            <a:ext cx="201168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71231" y="157276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3935"/>
                </a:solidFill>
              </a:rPr>
              <a:t>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1490472"/>
            <a:ext cx="224028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74352" y="1572768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無料〜$30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2203704"/>
            <a:ext cx="1783080" cy="667512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1752" y="228600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Fireflies.ai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03120" y="2203704"/>
            <a:ext cx="1645920" cy="667512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76272" y="228600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40480" y="2203704"/>
            <a:ext cx="1645920" cy="667512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13632" y="228600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77840" y="2203704"/>
            <a:ext cx="1828799" cy="667512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50992" y="22860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3935"/>
                </a:solidFill>
              </a:rPr>
              <a:t>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79" y="2203704"/>
            <a:ext cx="2011680" cy="667512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71231" y="2286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3935"/>
                </a:solidFill>
              </a:rPr>
              <a:t>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01200" y="2203704"/>
            <a:ext cx="2240280" cy="667512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74352" y="228600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$10〜$19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" y="2916936"/>
            <a:ext cx="178308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1752" y="2999232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Fellow.ai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03120" y="2916936"/>
            <a:ext cx="16459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176272" y="299923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✅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0" y="2916936"/>
            <a:ext cx="16459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13632" y="299923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✅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577840" y="2916936"/>
            <a:ext cx="1828799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50992" y="2999232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△ 弱い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98079" y="2916936"/>
            <a:ext cx="201168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71231" y="299923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3935"/>
                </a:solidFill>
              </a:rPr>
              <a:t>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01200" y="2916936"/>
            <a:ext cx="224028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74352" y="299923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無料〜$9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8600" y="3630168"/>
            <a:ext cx="1783080" cy="667512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01752" y="3712463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Notion AI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103120" y="3630168"/>
            <a:ext cx="1645920" cy="667512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176272" y="3712463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✅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40480" y="3630168"/>
            <a:ext cx="1645920" cy="667512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712463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✅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577840" y="3630168"/>
            <a:ext cx="1828799" cy="667512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50992" y="3712463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3935"/>
                </a:solidFill>
              </a:rPr>
              <a:t>❌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498079" y="3630168"/>
            <a:ext cx="2011680" cy="667512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571231" y="3712463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3935"/>
                </a:solidFill>
              </a:rPr>
              <a:t>❌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601200" y="3630168"/>
            <a:ext cx="2240280" cy="667512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74352" y="3712463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$8〜$15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28600" y="4343400"/>
            <a:ext cx="178308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01752" y="4425696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MS Copilot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103120" y="4343400"/>
            <a:ext cx="16459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176272" y="4425696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✅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40480" y="4343400"/>
            <a:ext cx="16459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913632" y="4425696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✅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577840" y="4343400"/>
            <a:ext cx="1828799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650992" y="4425696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△ Teams限定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498079" y="4343400"/>
            <a:ext cx="201168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571231" y="4425696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53935"/>
                </a:solidFill>
              </a:rPr>
              <a:t>❌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601200" y="4343400"/>
            <a:ext cx="224028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674352" y="4425696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+$30追加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28600" y="5056632"/>
            <a:ext cx="1783080" cy="667512"/>
          </a:xfrm>
          <a:prstGeom prst="rect">
            <a:avLst/>
          </a:prstGeom>
          <a:solidFill>
            <a:srgbClr val="E8FF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01752" y="5138928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48C"/>
                </a:solidFill>
              </a:rPr>
              <a:t>FollowFlo（案）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103120" y="5056632"/>
            <a:ext cx="1645920" cy="667512"/>
          </a:xfrm>
          <a:prstGeom prst="rect">
            <a:avLst/>
          </a:prstGeom>
          <a:solidFill>
            <a:srgbClr val="E8FF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176272" y="513892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7A48"/>
                </a:solidFill>
              </a:rPr>
              <a:t>✅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840480" y="5056632"/>
            <a:ext cx="1645920" cy="667512"/>
          </a:xfrm>
          <a:prstGeom prst="rect">
            <a:avLst/>
          </a:prstGeom>
          <a:solidFill>
            <a:srgbClr val="E8FF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913632" y="513892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7A48"/>
                </a:solidFill>
              </a:rPr>
              <a:t>✅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577840" y="5056632"/>
            <a:ext cx="1828799" cy="667512"/>
          </a:xfrm>
          <a:prstGeom prst="rect">
            <a:avLst/>
          </a:prstGeom>
          <a:solidFill>
            <a:srgbClr val="E8FF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650992" y="513892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7A48"/>
                </a:solidFill>
              </a:rPr>
              <a:t>✅ 自律実行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498079" y="5056632"/>
            <a:ext cx="2011680" cy="667512"/>
          </a:xfrm>
          <a:prstGeom prst="rect">
            <a:avLst/>
          </a:prstGeom>
          <a:solidFill>
            <a:srgbClr val="E8FF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571231" y="513892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7A48"/>
                </a:solidFill>
              </a:rPr>
              <a:t>✅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601200" y="5056632"/>
            <a:ext cx="2240280" cy="667512"/>
          </a:xfrm>
          <a:prstGeom prst="rect">
            <a:avLst/>
          </a:prstGeom>
          <a:solidFill>
            <a:srgbClr val="E8FF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674352" y="5138928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</a:rPr>
              <a:t>$12〜$25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A48"/>
                </a:solidFill>
              </a:rPr>
              <a:t>結論：完全特化型の「自律追跡＋エスカレーション」SaaSは2026年現在も存在しない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市場規模　── 高成長・巨大市場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2743200" cy="73152"/>
          </a:xfrm>
          <a:prstGeom prst="rect">
            <a:avLst/>
          </a:prstGeom>
          <a:solidFill>
            <a:srgbClr val="00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8016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7A48"/>
                </a:solidFill>
              </a:rPr>
              <a:t>$375億+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0574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</a:rPr>
              <a:t>米国の非生産的
会議コスト/年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05156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0" y="1051560"/>
            <a:ext cx="2743200" cy="73152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28016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57B8"/>
                </a:solidFill>
              </a:rPr>
              <a:t>25%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574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</a:rPr>
              <a:t>AI議事録市場
CAGR（年率成長）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05156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051560"/>
            <a:ext cx="2743200" cy="73152"/>
          </a:xfrm>
          <a:prstGeom prst="rect">
            <a:avLst/>
          </a:prstGeom>
          <a:solidFill>
            <a:srgbClr val="00C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28016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C48C"/>
                </a:solidFill>
              </a:rPr>
              <a:t>$342億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0574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</a:rPr>
              <a:t>2035年の
AI会議市場予測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105156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52560" y="1051560"/>
            <a:ext cx="2743200" cy="73152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128016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E8A000"/>
                </a:solidFill>
              </a:rPr>
              <a:t>3,330万社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0574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</a:rPr>
              <a:t>米国SMB企業数
（主要ターゲット）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063240"/>
            <a:ext cx="116128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063240"/>
            <a:ext cx="109728" cy="3520440"/>
          </a:xfrm>
          <a:prstGeom prst="rect">
            <a:avLst/>
          </a:prstGeom>
          <a:solidFill>
            <a:srgbClr val="00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12724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7A48"/>
                </a:solidFill>
              </a:rPr>
              <a:t>AI議事録ツール市場成長予測（複数調査機関）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035040"/>
            <a:ext cx="1645920" cy="365760"/>
          </a:xfrm>
          <a:prstGeom prst="rect">
            <a:avLst/>
          </a:prstGeom>
          <a:solidFill>
            <a:srgbClr val="00C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9893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293B"/>
                </a:solidFill>
              </a:rPr>
              <a:t>$12〜35億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00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</a:rPr>
              <a:t>2025年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88920" y="5961888"/>
            <a:ext cx="1645920" cy="438912"/>
          </a:xfrm>
          <a:prstGeom prst="rect">
            <a:avLst/>
          </a:prstGeom>
          <a:solidFill>
            <a:srgbClr val="00C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1616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293B"/>
                </a:solidFill>
              </a:rPr>
              <a:t>$14〜43億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88920" y="6400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</a:rPr>
              <a:t>2026年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74920" y="5742432"/>
            <a:ext cx="1645920" cy="658368"/>
          </a:xfrm>
          <a:prstGeom prst="rect">
            <a:avLst/>
          </a:prstGeom>
          <a:solidFill>
            <a:srgbClr val="00C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74920" y="569671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293B"/>
                </a:solidFill>
              </a:rPr>
              <a:t>$22〜70億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4920" y="6400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</a:rPr>
              <a:t>2028年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60920" y="5376672"/>
            <a:ext cx="1645920" cy="1024127"/>
          </a:xfrm>
          <a:prstGeom prst="rect">
            <a:avLst/>
          </a:prstGeom>
          <a:solidFill>
            <a:srgbClr val="00C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60920" y="533095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293B"/>
                </a:solidFill>
              </a:rPr>
              <a:t>$38〜120億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20" y="6400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</a:rPr>
              <a:t>2030年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46920" y="4754880"/>
            <a:ext cx="1645920" cy="1645920"/>
          </a:xfrm>
          <a:prstGeom prst="rect">
            <a:avLst/>
          </a:prstGeom>
          <a:solidFill>
            <a:srgbClr val="00C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46920" y="47091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293B"/>
                </a:solidFill>
              </a:rPr>
              <a:t>$62〜342億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6920" y="6400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</a:rPr>
              <a:t>2035年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出典：Grand View Research / Precedence Research / Market Research Future / Laxis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ビジネスモデル　── 収益試算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05840"/>
            <a:ext cx="28346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05840"/>
            <a:ext cx="2834640" cy="4572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0515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55448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4748B"/>
                </a:solidFill>
              </a:rPr>
              <a:t>無料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224028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</a:rPr>
              <a:t>5ユーザー
50会議/月まで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29260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</a:rPr>
              <a:t>個人・小規模チーム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005840"/>
            <a:ext cx="28346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0" y="1005840"/>
            <a:ext cx="2834640" cy="457200"/>
          </a:xfrm>
          <a:prstGeom prst="rect">
            <a:avLst/>
          </a:prstGeom>
          <a:solidFill>
            <a:srgbClr val="00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10515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Pro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155448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7A48"/>
                </a:solidFill>
              </a:rPr>
              <a:t>$12〜$15
/user/月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24028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</a:rPr>
              <a:t>無制限会議
自動リマインド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9260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</a:rPr>
              <a:t>SMB 10〜100名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005840"/>
            <a:ext cx="28346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1005840"/>
            <a:ext cx="2834640" cy="45720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10515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Business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155448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57B8"/>
                </a:solidFill>
              </a:rPr>
              <a:t>$20〜$25
/user/月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224028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</a:rPr>
              <a:t>高度分析
SSO・API連携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9260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</a:rPr>
              <a:t>中堅 100〜500名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0" y="1005840"/>
            <a:ext cx="28346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005840"/>
            <a:ext cx="2834640" cy="457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10515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Enterprise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55448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1B3E"/>
                </a:solidFill>
              </a:rPr>
              <a:t>要問い合わせ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24028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</a:rPr>
              <a:t>カスタム連携
SLA保証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29260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</a:rPr>
              <a:t>500名以上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4343400"/>
            <a:ext cx="11704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28600" y="4343400"/>
            <a:ext cx="11704320" cy="411480"/>
          </a:xfrm>
          <a:prstGeom prst="rect">
            <a:avLst/>
          </a:prstGeom>
          <a:solidFill>
            <a:srgbClr val="00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4389120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月商20万円達成シナリオ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4846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</a:rPr>
              <a:t>Proプラン
10ユーザー社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53035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単価：¥18,000/社/月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56235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48C"/>
                </a:solidFill>
              </a:rPr>
              <a:t>契約数：12社 → 月商 ¥216,000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4846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</a:rPr>
              <a:t>Proプラン
15ユーザー社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51960" y="53035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単価：¥33,750/社/月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51960" y="56235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48C"/>
                </a:solidFill>
              </a:rPr>
              <a:t>契約数：6社 → 月商 ¥202,500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40" y="4846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</a:rPr>
              <a:t>Businessプラン
30ユーザー社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2440" y="53035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単価：¥112,500/社/月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2440" y="56235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48C"/>
                </a:solidFill>
              </a:rPr>
              <a:t>契約数：2社 → 月商 ¥225,000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技術・実装計画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05840"/>
            <a:ext cx="2834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05840"/>
            <a:ext cx="2834640" cy="73152"/>
          </a:xfrm>
          <a:prstGeom prst="rect">
            <a:avLst/>
          </a:prstGeom>
          <a:solidFill>
            <a:srgbClr val="00C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09728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E293B"/>
                </a:solidFill>
              </a:rPr>
              <a:t>Slack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50876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7A48"/>
                </a:solidFill>
              </a:rPr>
              <a:t>✅ 公式API完備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005840"/>
            <a:ext cx="2834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0" y="1005840"/>
            <a:ext cx="2834640" cy="73152"/>
          </a:xfrm>
          <a:prstGeom prst="rect">
            <a:avLst/>
          </a:prstGeom>
          <a:solidFill>
            <a:srgbClr val="00C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09728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E293B"/>
                </a:solidFill>
              </a:rPr>
              <a:t>Microsoft Teams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50876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7A48"/>
                </a:solidFill>
              </a:rPr>
              <a:t>✅ Graph 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005840"/>
            <a:ext cx="2834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005840"/>
            <a:ext cx="2834640" cy="73152"/>
          </a:xfrm>
          <a:prstGeom prst="rect">
            <a:avLst/>
          </a:prstGeom>
          <a:solidFill>
            <a:srgbClr val="00C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09728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E293B"/>
                </a:solidFill>
              </a:rPr>
              <a:t>Zoom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150876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7A48"/>
                </a:solidFill>
              </a:rPr>
              <a:t>✅ Zoom API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005840"/>
            <a:ext cx="2834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0" y="1005840"/>
            <a:ext cx="2834640" cy="73152"/>
          </a:xfrm>
          <a:prstGeom prst="rect">
            <a:avLst/>
          </a:prstGeom>
          <a:solidFill>
            <a:srgbClr val="00C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109728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E293B"/>
                </a:solidFill>
              </a:rPr>
              <a:t>Google Meet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150876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7A48"/>
                </a:solidFill>
              </a:rPr>
              <a:t>✅ Workspace API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2103120"/>
            <a:ext cx="11704320" cy="384048"/>
          </a:xfrm>
          <a:prstGeom prst="rect">
            <a:avLst/>
          </a:prstGeom>
          <a:solidFill>
            <a:srgbClr val="00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2148840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MVP開発ロードマップ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2606040"/>
            <a:ext cx="3749039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8600" y="2606040"/>
            <a:ext cx="3749039" cy="438912"/>
          </a:xfrm>
          <a:prstGeom prst="rect">
            <a:avLst/>
          </a:prstGeom>
          <a:solidFill>
            <a:srgbClr val="00C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8600" y="265176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Phase 1　〜2ヶ月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" y="3154680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</a:rPr>
              <a:t>会議文字起こし→
アクションアイテム
抽出→Slack通知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60520" y="2606040"/>
            <a:ext cx="3749039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60520" y="2606040"/>
            <a:ext cx="3749039" cy="438912"/>
          </a:xfrm>
          <a:prstGeom prst="rect">
            <a:avLst/>
          </a:prstGeom>
          <a:solidFill>
            <a:srgbClr val="00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60520" y="265176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Phase 2　〜4ヶ月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0520" y="3154680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</a:rPr>
              <a:t>担当者割り当て・
期日設定・
自動リマインド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92440" y="2606040"/>
            <a:ext cx="3749039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92440" y="2606040"/>
            <a:ext cx="3749039" cy="438912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92440" y="265176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Phase 3　〜6ヶ月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3154680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</a:rPr>
              <a:t>エスカレーション・
完了率
ダッシュボード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5029200"/>
            <a:ext cx="11704320" cy="1600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5120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48C"/>
                </a:solidFill>
              </a:rPr>
              <a:t>技術スタック：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54864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React/Next.js　｜　Node.js / FastAPI　｜　OpenAI API / Whisper　｜　PostgreSQL + Redis　｜　Slack API / Graph API / Zoom API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58978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</a:rPr>
              <a:t>開発チーム目安：フルスタック1名 ＋ AI/ML1名 ＋ デザイン兼任　計2〜3名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出典：Nylas API, SyncRivo, Zapier連携ドキュメント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リスクと対策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51560"/>
            <a:ext cx="11704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51560"/>
            <a:ext cx="109728" cy="128016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051560"/>
            <a:ext cx="1170432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06424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</a:rPr>
              <a:t>🔴 Microsoft Copilot参入</a:t>
            </a:r>
          </a:p>
        </p:txBody>
      </p:sp>
      <p:sp>
        <p:nvSpPr>
          <p:cNvPr id="9" name="Rectangle 8"/>
          <p:cNvSpPr/>
          <p:nvPr/>
        </p:nvSpPr>
        <p:spPr>
          <a:xfrm>
            <a:off x="9875520" y="1106424"/>
            <a:ext cx="1097280" cy="29260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0" y="1106424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52704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Teams内では機能強化済み。ただしMicrosoft 365 E3/E5限定（$30/user追加）。SMBや非Microsoft環境には届かない。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892807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7A48"/>
                </a:solidFill>
              </a:rPr>
              <a:t>対策：マルチプラットフォーム対応（Slack＋Zoom）でMicrosoft非依存層を守る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2441448"/>
            <a:ext cx="11704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441448"/>
            <a:ext cx="109728" cy="1280160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441448"/>
            <a:ext cx="1170432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49631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</a:rPr>
              <a:t>🟡 API利用規約変更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75520" y="2496312"/>
            <a:ext cx="1097280" cy="29260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0" y="249631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1693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Slack・Teams・Zoom各社がAPIポリシー変更時、機能停止リスクあり。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28269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7A48"/>
                </a:solidFill>
              </a:rPr>
              <a:t>対策：複数プラットフォームに分散・公式パートナープログラムへ参加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3831335"/>
            <a:ext cx="11704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" y="3831335"/>
            <a:ext cx="109728" cy="1280160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" y="3831335"/>
            <a:ext cx="1170432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886199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</a:rPr>
              <a:t>🟡 プライバシー問題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75520" y="3886199"/>
            <a:ext cx="1097280" cy="29260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0" y="3886199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306823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会議内容はセンシティブ情報。GDPR・個人情報保護法への対応が必須。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672583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7A48"/>
                </a:solidFill>
              </a:rPr>
              <a:t>対策：データの最小収集・エンドツーエンド暗号化・ISO 27001取得ロードマップ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5221224"/>
            <a:ext cx="11704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28600" y="5221224"/>
            <a:ext cx="109728" cy="1280160"/>
          </a:xfrm>
          <a:prstGeom prst="rect">
            <a:avLst/>
          </a:prstGeom>
          <a:solidFill>
            <a:srgbClr val="00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5221224"/>
            <a:ext cx="1170432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27608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</a:rPr>
              <a:t>🟢 機能コピー（競合）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875520" y="5276088"/>
            <a:ext cx="1097280" cy="292608"/>
          </a:xfrm>
          <a:prstGeom prst="rect">
            <a:avLst/>
          </a:prstGeom>
          <a:solidFill>
            <a:srgbClr val="00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75520" y="527608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低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69671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FellowやFirefliesがエスカレーション機能を追加する可能性。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06247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7A48"/>
                </a:solidFill>
              </a:rPr>
              <a:t>対策：HRとの統合（人事評価連携）など差別化レイヤーを積み上げる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0"/>
            <a:ext cx="12188952" cy="1737360"/>
          </a:xfrm>
          <a:prstGeom prst="rect">
            <a:avLst/>
          </a:prstGeom>
          <a:solidFill>
            <a:srgbClr val="003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C48C"/>
                </a:solidFill>
              </a:rPr>
              <a:t>総合評価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FollowFlo は GO か？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5486400" cy="45720"/>
          </a:xfrm>
          <a:prstGeom prst="rect">
            <a:avLst/>
          </a:prstGeom>
          <a:solidFill>
            <a:srgbClr val="00C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</a:rPr>
              <a:t>市場機会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7373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48C"/>
                </a:solidFill>
              </a:rPr>
              <a:t>★★★★★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173736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年率25%成長・$375B+の問題領域・未解決の痛点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39572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</a:rPr>
              <a:t>競合優位性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9572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48C"/>
                </a:solidFill>
              </a:rPr>
              <a:t>★★★★☆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395728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完全特化型は存在しない・大手は自社エコシステム限定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054096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</a:rPr>
              <a:t>技術実現性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054096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48C"/>
                </a:solidFill>
              </a:rPr>
              <a:t>★★★★★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3054096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既存API・LLMで実現可能・MVP4〜7ヶ月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712464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</a:rPr>
              <a:t>収益性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712464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48C"/>
                </a:solidFill>
              </a:rPr>
              <a:t>★★★★☆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3712464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Proプラン12社で月商20万円達成・MRR積み上げ構造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370831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</a:rPr>
              <a:t>大手参入リスク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370831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48C"/>
                </a:solidFill>
              </a:rPr>
              <a:t>★★★☆☆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4370831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Microsoft最大脅威だがSMB・マルチ環境に防衛線あり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52578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48C"/>
                </a:solidFill>
              </a:rPr>
              <a:t>推奨アクション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6692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MVP開発を即時開始　→　日本語対応を先行　→　日本市場で先行者優位を確立
6ヶ月以内に15社・月商20万円達成。英語版と並行しグローバル展開へ。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400" b="1">
                <a:solidFill>
                  <a:srgbClr val="0D1B3E"/>
                </a:solidFill>
              </a:defRPr>
            </a:pPr>
            <a:r>
              <a:t>FollowFlo ができる 5 つの事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>
                <a:solidFill>
                  <a:srgbClr val="0090E0"/>
                </a:solidFill>
              </a:defRPr>
            </a:pPr>
            <a:r>
              <a:t>AI議事録の「その先」へ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