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FollowFlo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会議アクションアイテム完了保証エンジン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2196F3"/>
                </a:solidFill>
              </a:defRPr>
            </a:pPr>
            <a:r>
              <a:t>FollowFlo ができる 5 つの事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424242"/>
                </a:solidFill>
              </a:defRPr>
            </a:pPr>
            <a:r>
              <a:t>真の差別化 ── AI議事録の「その先」へ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96F3"/>
                </a:solidFill>
              </a:defRPr>
            </a:pPr>
            <a:r>
              <a:t>1️⃣ マルチシグナル完了検出</a:t>
            </a:r>
          </a:p>
          <a:p>
            <a:pPr>
              <a:defRPr sz="1100">
                <a:solidFill>
                  <a:srgbClr val="424242"/>
                </a:solidFill>
              </a:defRPr>
            </a:pPr>
            <a:r>
              <a:t>Slack / Teams / Zoom / Notion / Asana</a:t>
            </a:r>
            <a:br/>
            <a:r>
              <a:t>複数プラットフォームの完了を統一追跡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96F3"/>
                </a:solidFill>
              </a:defRPr>
            </a:pPr>
            <a:r>
              <a:t>2️⃣ 完了証拠の自動記録</a:t>
            </a:r>
          </a:p>
          <a:p>
            <a:pPr>
              <a:defRPr sz="1100">
                <a:solidFill>
                  <a:srgbClr val="424242"/>
                </a:solidFill>
              </a:defRPr>
            </a:pPr>
            <a:r>
              <a:t>タイムスタンプ + ユーザーID + スクリーンショット</a:t>
            </a:r>
            <a:br/>
            <a:r>
              <a:t>改ざん防止の暗号検証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96F3"/>
                </a:solidFill>
              </a:defRPr>
            </a:pPr>
            <a:r>
              <a:t>3️⃣ AI検証エンジン（4段階）</a:t>
            </a:r>
          </a:p>
          <a:p>
            <a:pPr>
              <a:defRPr sz="1100">
                <a:solidFill>
                  <a:srgbClr val="424242"/>
                </a:solidFill>
              </a:defRPr>
            </a:pPr>
            <a:r>
              <a:t>自動検出 → 文脈確認 → 検証 → 人間確認</a:t>
            </a:r>
            <a:br/>
            <a:r>
              <a:t>誤検知を完全排除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96F3"/>
                </a:solidFill>
              </a:defRPr>
            </a:pPr>
            <a:r>
              <a:t>4️⃣ 段階的エスカレーション</a:t>
            </a:r>
          </a:p>
          <a:p>
            <a:pPr>
              <a:defRPr sz="1100">
                <a:solidFill>
                  <a:srgbClr val="424242"/>
                </a:solidFill>
              </a:defRPr>
            </a:pPr>
            <a:r>
              <a:t>T-1日リマインド → T+24h通知 → T+3日報告</a:t>
            </a:r>
            <a:br/>
            <a:r>
              <a:t>期限超過の自動段階対応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822960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96F3"/>
                </a:solidFill>
              </a:defRPr>
            </a:pPr>
            <a:r>
              <a:t>5️⃣ 3階層レポート</a:t>
            </a:r>
          </a:p>
          <a:p>
            <a:pPr>
              <a:defRPr sz="1100">
                <a:solidFill>
                  <a:srgbClr val="424242"/>
                </a:solidFill>
              </a:defRPr>
            </a:pPr>
            <a:r>
              <a:t>個人 / チーム / 経営陣</a:t>
            </a:r>
            <a:br/>
            <a:r>
              <a:t>ステークホルダー別の最適ダッシュボード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競合比較 ── 市場での立ち位置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8621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69848"/>
                <a:gridCol w="1069848"/>
                <a:gridCol w="1069848"/>
                <a:gridCol w="1069848"/>
                <a:gridCol w="1069848"/>
                <a:gridCol w="1069848"/>
                <a:gridCol w="1069848"/>
              </a:tblGrid>
              <a:tr h="82296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製品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AI議事録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アクション</a:t>
                      </a:r>
                    </a:p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抽出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自律</a:t>
                      </a:r>
                    </a:p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追跡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マルチ</a:t>
                      </a:r>
                    </a:p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シグナル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エスカ</a:t>
                      </a:r>
                    </a:p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レーション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証拠</a:t>
                      </a:r>
                    </a:p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チェーン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AI検証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Otter.ai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Fireflies.ai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Fellow.ai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FollowFlo 🚀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❌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CAF5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CAF5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CAF5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CAF5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CAF5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CAF5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24242"/>
                </a:solidFill>
              </a:defRPr>
            </a:pPr>
            <a:r>
              <a:t>※ FollowFlo は「完了追跡」に特化 → 既存AI議事録ツールと連携可能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4段階検証エンジン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E6F0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wrap="square"/>
          <a:lstStyle/>
          <a:p>
            <a:pPr algn="ctr">
              <a:defRPr sz="1300" b="1">
                <a:solidFill>
                  <a:srgbClr val="2196F3"/>
                </a:solidFill>
              </a:defRPr>
            </a:pPr>
            <a:r>
              <a:t>Stage 1: 自動検出</a:t>
            </a:r>
          </a:p>
          <a:p>
            <a:pPr>
              <a:spcBef>
                <a:spcPts val="800"/>
              </a:spcBef>
              <a:defRPr sz="1100">
                <a:solidFill>
                  <a:srgbClr val="424242"/>
                </a:solidFill>
              </a:defRPr>
            </a:pPr>
            <a:r>
              <a:t>完了シグナルを検知</a:t>
            </a:r>
            <a:br/>
            <a:r>
              <a:t>✅ 完了 done finished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188720"/>
            <a:ext cx="3931920" cy="1828800"/>
          </a:xfrm>
          <a:prstGeom prst="rect">
            <a:avLst/>
          </a:prstGeom>
          <a:solidFill>
            <a:srgbClr val="E6F0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wrap="square"/>
          <a:lstStyle/>
          <a:p>
            <a:pPr algn="ctr">
              <a:defRPr sz="1300" b="1">
                <a:solidFill>
                  <a:srgbClr val="2196F3"/>
                </a:solidFill>
              </a:defRPr>
            </a:pPr>
            <a:r>
              <a:t>Stage 2: 文脈確認</a:t>
            </a:r>
          </a:p>
          <a:p>
            <a:pPr>
              <a:spcBef>
                <a:spcPts val="800"/>
              </a:spcBef>
              <a:defRPr sz="1100">
                <a:solidFill>
                  <a:srgbClr val="424242"/>
                </a:solidFill>
              </a:defRPr>
            </a:pPr>
            <a:r>
              <a:t>タスク名 &amp; ユーザーマッチ</a:t>
            </a:r>
            <a:br/>
            <a:r>
              <a:t>信頼度スコア計算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3931920" cy="1828800"/>
          </a:xfrm>
          <a:prstGeom prst="rect">
            <a:avLst/>
          </a:prstGeom>
          <a:solidFill>
            <a:srgbClr val="E6F0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wrap="square"/>
          <a:lstStyle/>
          <a:p>
            <a:pPr algn="ctr">
              <a:defRPr sz="1300" b="1">
                <a:solidFill>
                  <a:srgbClr val="2196F3"/>
                </a:solidFill>
              </a:defRPr>
            </a:pPr>
            <a:r>
              <a:t>Stage 3: 証拠記録</a:t>
            </a:r>
          </a:p>
          <a:p>
            <a:pPr>
              <a:spcBef>
                <a:spcPts val="800"/>
              </a:spcBef>
              <a:defRPr sz="1100">
                <a:solidFill>
                  <a:srgbClr val="424242"/>
                </a:solidFill>
              </a:defRPr>
            </a:pPr>
            <a:r>
              <a:t>SHA256ハッシング</a:t>
            </a:r>
            <a:br/>
            <a:r>
              <a:t>タイムスタンプ自動保存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474720"/>
            <a:ext cx="3931920" cy="1828800"/>
          </a:xfrm>
          <a:prstGeom prst="rect">
            <a:avLst/>
          </a:prstGeom>
          <a:solidFill>
            <a:srgbClr val="E6F0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 rIns="137160" wrap="square"/>
          <a:lstStyle/>
          <a:p>
            <a:pPr algn="ctr">
              <a:defRPr sz="1300" b="1">
                <a:solidFill>
                  <a:srgbClr val="2196F3"/>
                </a:solidFill>
              </a:defRPr>
            </a:pPr>
            <a:r>
              <a:t>Stage 4: 人間確認</a:t>
            </a:r>
          </a:p>
          <a:p>
            <a:pPr>
              <a:spcBef>
                <a:spcPts val="800"/>
              </a:spcBef>
              <a:defRPr sz="1100">
                <a:solidFill>
                  <a:srgbClr val="424242"/>
                </a:solidFill>
              </a:defRPr>
            </a:pPr>
            <a:r>
              <a:t>低信頼度フラグ</a:t>
            </a:r>
            <a:br/>
            <a:r>
              <a:t>マネージャー確認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自動エスカレーション（3段階）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194560" cy="2286000"/>
          </a:xfrm>
          <a:prstGeom prst="rect">
            <a:avLst/>
          </a:prstGeom>
          <a:solidFill>
            <a:srgbClr val="FFEB3B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⏰ Stage 1</a:t>
            </a:r>
            <a:br/>
            <a:r>
              <a:t>T-1日</a:t>
            </a:r>
          </a:p>
          <a:p>
            <a:pPr algn="ctr"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リマインド通知</a:t>
            </a:r>
            <a:br/>
            <a:r>
              <a:t>割当者へ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828800"/>
            <a:ext cx="2194560" cy="2286000"/>
          </a:xfrm>
          <a:prstGeom prst="rect">
            <a:avLst/>
          </a:prstGeom>
          <a:solidFill>
            <a:srgbClr val="FF9800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⚠️ Stage 2</a:t>
            </a:r>
            <a:br/>
            <a:r>
              <a:t>T+24時間</a:t>
            </a:r>
          </a:p>
          <a:p>
            <a:pPr algn="ctr"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マネージャー通知</a:t>
            </a:r>
            <a:br/>
            <a:r>
              <a:t>作成者へ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828800"/>
            <a:ext cx="2194560" cy="2286000"/>
          </a:xfrm>
          <a:prstGeom prst="rect">
            <a:avLst/>
          </a:prstGeom>
          <a:solidFill>
            <a:srgbClr val="F44336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Stage 3</a:t>
            </a:r>
            <a:br/>
            <a:r>
              <a:t>T+3日</a:t>
            </a:r>
          </a:p>
          <a:p>
            <a:pPr algn="ctr"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エグゼクティブ</a:t>
            </a:r>
            <a:br/>
            <a:r>
              <a:t>レポート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MVP ロードマップ（Lightning版）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1  ━  3〜4日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Slack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マルチシグナル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3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メトリクス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ダッシュボード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80359"/>
            <a:ext cx="8229600" cy="320040"/>
          </a:xfrm>
          <a:prstGeom prst="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  ━  2週間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3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エラーハンドリング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オートエスカレーション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7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AI検証 初版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79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Teams連携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1999"/>
            <a:ext cx="8229600" cy="320040"/>
          </a:xfrm>
          <a:prstGeom prst="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  ━  1ヶ月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7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Zoom/Notion/Asana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79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証拠チェーン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1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3階層レポート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3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セキュリティ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CAF50"/>
                </a:solidFill>
              </a:defRPr>
            </a:pPr>
            <a:r>
              <a:t>最小チーム: フルスタック1名（MVP開発中）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ビジネスモデル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828800" cy="640080"/>
          </a:xfrm>
          <a:prstGeom prst="rect">
            <a:avLst/>
          </a:prstGeom>
          <a:solidFill>
            <a:srgbClr val="4CAF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価格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42976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424242"/>
                </a:solidFill>
              </a:defRPr>
            </a:pPr>
            <a:r>
              <a:t>$15/ユーザー/月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1828800" cy="640080"/>
          </a:xfrm>
          <a:prstGeom prst="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対象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42976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424242"/>
                </a:solidFill>
              </a:defRPr>
            </a:pPr>
            <a:r>
              <a:t>50人以上のチーム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00400"/>
            <a:ext cx="1828800" cy="640080"/>
          </a:xfrm>
          <a:prstGeom prst="rect">
            <a:avLst/>
          </a:prstGeom>
          <a:solidFill>
            <a:srgbClr val="FF98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初期設定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00400"/>
            <a:ext cx="42976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424242"/>
                </a:solidFill>
              </a:defRPr>
            </a:pPr>
            <a:r>
              <a:t>4時間サービス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114800"/>
            <a:ext cx="1828800" cy="640080"/>
          </a:xfrm>
          <a:prstGeom prst="rect">
            <a:avLst/>
          </a:prstGeom>
          <a:solidFill>
            <a:srgbClr val="F4433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デプロイ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114800"/>
            <a:ext cx="42976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424242"/>
                </a:solidFill>
              </a:defRPr>
            </a:pPr>
            <a:r>
              <a:t>専用 Slack Workspace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会議アクションアイテムの</a:t>
            </a:r>
            <a:br/>
            <a:r>
              <a:t>完了保証をお約束します</a:t>
            </a:r>
          </a:p>
          <a:p>
            <a:pPr algn="ctr">
              <a:spcBef>
                <a:spcPts val="3000"/>
              </a:spcBef>
              <a:defRPr sz="2000">
                <a:solidFill>
                  <a:srgbClr val="C8DCFF"/>
                </a:solidFill>
              </a:defRPr>
            </a:pPr>
            <a:r>
              <a:t>FollowFlo MVP ── 2026年5月31日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